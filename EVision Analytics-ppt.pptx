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Lato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EvxGCVx2sBawr6nnOMF+v6WZ6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EFA6703-9573-4D2A-AA06-91A2B03955A0}">
  <a:tblStyle styleId="{6EFA6703-9573-4D2A-AA06-91A2B03955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C5CECD6-A1FC-4E5D-823F-000A1D9EFF9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629" y="-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0b2cc6d2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e0b2cc6d2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0b2cc6d2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e0b2cc6d2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0b2cc6d2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e0b2cc6d2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0b2cc6d2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0b2cc6d2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0b2cc6d2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e0b2cc6d2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250"/>
            <a:ext cx="12192000" cy="73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 flipH="1">
            <a:off x="4121200" y="3714750"/>
            <a:ext cx="4117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E-Vision Analytics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 flipH="1">
            <a:off x="7894425" y="5017055"/>
            <a:ext cx="4230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Presented by-</a:t>
            </a:r>
            <a:endParaRPr sz="18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Bhuvana Mandli</a:t>
            </a:r>
            <a:endParaRPr sz="18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Radhika Kadaboina</a:t>
            </a:r>
            <a:endParaRPr sz="18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Batch No. 493</a:t>
            </a:r>
            <a:endParaRPr sz="18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888543" y="662498"/>
            <a:ext cx="39980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Business Problem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586750" y="3169075"/>
            <a:ext cx="8499900" cy="14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The Electric Vehicle (EV) market is rapidly growing across regions and technologies, making it difficult to analyze EV adoption trends, market growth, infrastructure development, and regional performance from raw data.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Businesses and policymakers need an interactive analytical solution to:</a:t>
            </a: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Track EV growth trends</a:t>
            </a: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Compare powertrain technologies</a:t>
            </a: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Analyze vehicle category performance</a:t>
            </a: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Monitor EV infrastructure</a:t>
            </a: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Identify future market opportunities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Without effective visualization and analytics, extracting meaningful insights from complex EV datasets becomes challenging.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888543" y="662498"/>
            <a:ext cx="18582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Agenda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585819" y="1859339"/>
            <a:ext cx="6096000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Objective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Flow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Dataset Overview</a:t>
            </a:r>
            <a:endParaRPr sz="180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steps and screenshots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Insights and Recommendations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888543" y="662498"/>
            <a:ext cx="388683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Objective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585827" y="1859350"/>
            <a:ext cx="8031000" cy="3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Build an interactive Power BI dashboard named </a:t>
            </a:r>
            <a:r>
              <a:rPr lang="en-US" sz="1800" b="1">
                <a:solidFill>
                  <a:schemeClr val="dk1"/>
                </a:solidFill>
              </a:rPr>
              <a:t>EVision Analytics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Analyze regional EV growth trends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Visualize EV sales and stock performance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Compare powertrain technologies (BEV, PHEV, FCEV)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Analyze vehicle category performance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Monitor charging infrastructure growth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Perform year-over-year EV growth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Compare EV adoption across regions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Generate business insights for data-driven decision making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/>
        </p:nvSpPr>
        <p:spPr>
          <a:xfrm>
            <a:off x="779929" y="474693"/>
            <a:ext cx="943983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Flow</a:t>
            </a:r>
            <a:endParaRPr/>
          </a:p>
        </p:txBody>
      </p:sp>
      <p:pic>
        <p:nvPicPr>
          <p:cNvPr id="116" name="Google Shape;11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687" y="1801627"/>
            <a:ext cx="5544626" cy="369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e0b2cc6d2f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e0b2cc6d2f_0_6"/>
          <p:cNvSpPr txBox="1"/>
          <p:nvPr/>
        </p:nvSpPr>
        <p:spPr>
          <a:xfrm>
            <a:off x="779929" y="474693"/>
            <a:ext cx="943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Dataset Overview</a:t>
            </a:r>
            <a:endParaRPr/>
          </a:p>
        </p:txBody>
      </p:sp>
      <p:sp>
        <p:nvSpPr>
          <p:cNvPr id="123" name="Google Shape;123;g3e0b2cc6d2f_0_6"/>
          <p:cNvSpPr txBox="1"/>
          <p:nvPr/>
        </p:nvSpPr>
        <p:spPr>
          <a:xfrm>
            <a:off x="6440175" y="1001775"/>
            <a:ext cx="252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</a:rPr>
              <a:t>Dataset Fields</a:t>
            </a:r>
            <a:endParaRPr sz="1800" b="1" u="sng">
              <a:solidFill>
                <a:schemeClr val="dk1"/>
              </a:solidFill>
            </a:endParaRPr>
          </a:p>
        </p:txBody>
      </p:sp>
      <p:sp>
        <p:nvSpPr>
          <p:cNvPr id="125" name="Google Shape;125;g3e0b2cc6d2f_0_6"/>
          <p:cNvSpPr txBox="1"/>
          <p:nvPr/>
        </p:nvSpPr>
        <p:spPr>
          <a:xfrm>
            <a:off x="1021475" y="2105850"/>
            <a:ext cx="3005700" cy="12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 b="1"/>
              <a:t>Dataset Information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/>
              <a:t>Total Records:</a:t>
            </a:r>
            <a:r>
              <a:rPr lang="en-US" sz="1800" b="1"/>
              <a:t> </a:t>
            </a:r>
            <a:r>
              <a:rPr lang="en-US" sz="1800"/>
              <a:t>12,654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800" b="1"/>
          </a:p>
        </p:txBody>
      </p:sp>
      <p:graphicFrame>
        <p:nvGraphicFramePr>
          <p:cNvPr id="8" name="Google Shape;126;g3e0b2cc6d2f_0_6"/>
          <p:cNvGraphicFramePr/>
          <p:nvPr/>
        </p:nvGraphicFramePr>
        <p:xfrm>
          <a:off x="3493213" y="1570625"/>
          <a:ext cx="8249750" cy="4583818"/>
        </p:xfrm>
        <a:graphic>
          <a:graphicData uri="http://schemas.openxmlformats.org/drawingml/2006/table">
            <a:tbl>
              <a:tblPr>
                <a:noFill/>
                <a:tableStyleId>{0C5CECD6-A1FC-4E5D-823F-000A1D9EFF97}</a:tableStyleId>
              </a:tblPr>
              <a:tblGrid>
                <a:gridCol w="4124875"/>
                <a:gridCol w="4124875"/>
              </a:tblGrid>
              <a:tr h="492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Column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0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region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Country/region name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498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category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Historical and projected EV scenarios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5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</a:rPr>
                        <a:t>parameter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EV sales, stock, charging points, etc.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mode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Vehicle type/category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powertrain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BEV, PHEV, FCEV, etc.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year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Reporting year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48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unit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Unit of measurement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value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</a:rPr>
                        <a:t>Numeric EV metric value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734149" y="386052"/>
            <a:ext cx="103452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Steps and Screenshots</a:t>
            </a:r>
            <a:endParaRPr sz="3600"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830120" y="1643200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Uploading the Dataset 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307075" y="2341075"/>
            <a:ext cx="54759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Process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Imported EV dataset into Power BI Desktop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Verified data types for all columns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Checked dataset structure and column consistency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Validated missing values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Tools Used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Power BI Desktop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Power Query Editor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5025" y="1184775"/>
            <a:ext cx="5394576" cy="403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00015" y="856583"/>
            <a:ext cx="1004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Cleaning &amp; Transformation 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030950" y="1916475"/>
            <a:ext cx="8554500" cy="42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Activities Performed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Removed null and unnecessary values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Verified data types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Created derived columns for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Checked year-wise consistency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Power Query Operations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Change Data Types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Remove Errors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Replace Values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4">
            <a:alphaModFix/>
          </a:blip>
          <a:srcRect b="5944"/>
          <a:stretch/>
        </p:blipFill>
        <p:spPr>
          <a:xfrm>
            <a:off x="5749450" y="1710825"/>
            <a:ext cx="5878877" cy="341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234502" y="1306913"/>
            <a:ext cx="4812600" cy="20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Cumulative EV Value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Calculated cumulative EV growth across years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for time-series and growth trend analysis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806951" y="612856"/>
            <a:ext cx="355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Measures Created </a:t>
            </a:r>
            <a:endParaRPr sz="2100"/>
          </a:p>
        </p:txBody>
      </p:sp>
      <p:pic>
        <p:nvPicPr>
          <p:cNvPr id="156" name="Google Shape;15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225" y="1397675"/>
            <a:ext cx="4441325" cy="18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1234500" y="3421475"/>
            <a:ext cx="45816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EV Sales Sum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Calculated total EV sales values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for sales performance analysis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58" name="Google Shape;15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9049" y="3642074"/>
            <a:ext cx="4280100" cy="103220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 txBox="1"/>
          <p:nvPr/>
        </p:nvSpPr>
        <p:spPr>
          <a:xfrm>
            <a:off x="1234500" y="5019700"/>
            <a:ext cx="4280100" cy="1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EV Stock Sum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Calculated total EV stock values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for EV adoption and stock trend analysis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0" name="Google Shape;160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0475" y="5019700"/>
            <a:ext cx="4280100" cy="1045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e0b2cc6d2f_0_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e0b2cc6d2f_0_31"/>
          <p:cNvSpPr/>
          <p:nvPr/>
        </p:nvSpPr>
        <p:spPr>
          <a:xfrm>
            <a:off x="1030941" y="1028343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0b2cc6d2f_0_31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0b2cc6d2f_0_31"/>
          <p:cNvSpPr/>
          <p:nvPr/>
        </p:nvSpPr>
        <p:spPr>
          <a:xfrm>
            <a:off x="1030952" y="1463600"/>
            <a:ext cx="5020800" cy="18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Date Column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Created a Date column from the Year field to convert categorical years into proper date format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hierarchical year format to enable correct chronological sorting in Waterfall and time-series charts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69" name="Google Shape;169;g3e0b2cc6d2f_0_31"/>
          <p:cNvSpPr txBox="1"/>
          <p:nvPr/>
        </p:nvSpPr>
        <p:spPr>
          <a:xfrm>
            <a:off x="822601" y="708981"/>
            <a:ext cx="355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Columns Created </a:t>
            </a:r>
            <a:endParaRPr sz="2100"/>
          </a:p>
        </p:txBody>
      </p:sp>
      <p:sp>
        <p:nvSpPr>
          <p:cNvPr id="170" name="Google Shape;170;g3e0b2cc6d2f_0_31"/>
          <p:cNvSpPr txBox="1"/>
          <p:nvPr/>
        </p:nvSpPr>
        <p:spPr>
          <a:xfrm>
            <a:off x="1030950" y="4290175"/>
            <a:ext cx="5020800" cy="1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Region Type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Classified regions into Developed and Developing categories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for comparative regional analysis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71" name="Google Shape;171;g3e0b2cc6d2f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6712" y="1831874"/>
            <a:ext cx="345061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e0b2cc6d2f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6700" y="3980575"/>
            <a:ext cx="4111775" cy="17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577695" y="927925"/>
            <a:ext cx="412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Dashboard Analysis 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687300" y="2189325"/>
            <a:ext cx="3626700" cy="19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Regional Analysis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Top EV regions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Regional EV growth trends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Developed vs developing market comparison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2" name="Google Shape;18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0650" y="1108402"/>
            <a:ext cx="7573201" cy="485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e0b2cc6d2f_0_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e0b2cc6d2f_0_55"/>
          <p:cNvSpPr/>
          <p:nvPr/>
        </p:nvSpPr>
        <p:spPr>
          <a:xfrm>
            <a:off x="1030941" y="1028343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0b2cc6d2f_0_55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0b2cc6d2f_0_55"/>
          <p:cNvSpPr txBox="1"/>
          <p:nvPr/>
        </p:nvSpPr>
        <p:spPr>
          <a:xfrm>
            <a:off x="577695" y="927925"/>
            <a:ext cx="41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e0b2cc6d2f_0_55"/>
          <p:cNvSpPr/>
          <p:nvPr/>
        </p:nvSpPr>
        <p:spPr>
          <a:xfrm>
            <a:off x="687300" y="2189325"/>
            <a:ext cx="3626700" cy="19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Powertrain Analysis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BEV vs PHEV trends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Fastest growing powertrain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Powertrain distribution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92" name="Google Shape;192;g3e0b2cc6d2f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6075" y="1105425"/>
            <a:ext cx="7843524" cy="4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e0b2cc6d2f_0_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e0b2cc6d2f_0_66"/>
          <p:cNvSpPr/>
          <p:nvPr/>
        </p:nvSpPr>
        <p:spPr>
          <a:xfrm>
            <a:off x="1030941" y="1028343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0b2cc6d2f_0_66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e0b2cc6d2f_0_66"/>
          <p:cNvSpPr txBox="1"/>
          <p:nvPr/>
        </p:nvSpPr>
        <p:spPr>
          <a:xfrm>
            <a:off x="577695" y="927925"/>
            <a:ext cx="41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e0b2cc6d2f_0_66"/>
          <p:cNvSpPr/>
          <p:nvPr/>
        </p:nvSpPr>
        <p:spPr>
          <a:xfrm>
            <a:off x="687300" y="2189325"/>
            <a:ext cx="34191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Parameter &amp; Unit Analysis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Cars vs buses vs trucks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EV penetration across modes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Category dominance by region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02" name="Google Shape;202;g3e0b2cc6d2f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8800" y="927925"/>
            <a:ext cx="7780799" cy="49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e0b2cc6d2f_0_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e0b2cc6d2f_0_78"/>
          <p:cNvSpPr/>
          <p:nvPr/>
        </p:nvSpPr>
        <p:spPr>
          <a:xfrm>
            <a:off x="1030941" y="1028343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e0b2cc6d2f_0_78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0b2cc6d2f_0_78"/>
          <p:cNvSpPr txBox="1"/>
          <p:nvPr/>
        </p:nvSpPr>
        <p:spPr>
          <a:xfrm>
            <a:off x="577695" y="927925"/>
            <a:ext cx="41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e0b2cc6d2f_0_78"/>
          <p:cNvSpPr/>
          <p:nvPr/>
        </p:nvSpPr>
        <p:spPr>
          <a:xfrm>
            <a:off x="687300" y="2189325"/>
            <a:ext cx="30735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Time-Series Analysis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Year-wise EV stock growth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Cumulative EV trends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Market growth patterns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12" name="Google Shape;212;g3e0b2cc6d2f_0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0800" y="927925"/>
            <a:ext cx="8278801" cy="51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/>
          <p:nvPr/>
        </p:nvSpPr>
        <p:spPr>
          <a:xfrm>
            <a:off x="1341377" y="1331825"/>
            <a:ext cx="9169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Key Insights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Developed regions lead EV adoption due to strong infrastructure and policy support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BEVs show the highest growth among powertrain technologies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EV sales and stock are increasing consistently over the years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Charging infrastructure growth supports higher EV adoption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Recommendations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800">
                <a:solidFill>
                  <a:schemeClr val="dk1"/>
                </a:solidFill>
              </a:rPr>
              <a:t>Expand charging infrastructure in developing regions</a:t>
            </a:r>
            <a:endParaRPr sz="18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800">
                <a:solidFill>
                  <a:schemeClr val="dk1"/>
                </a:solidFill>
              </a:rPr>
              <a:t>Provide government incentives for EV adoption</a:t>
            </a:r>
            <a:endParaRPr sz="18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800">
                <a:solidFill>
                  <a:schemeClr val="dk1"/>
                </a:solidFill>
              </a:rPr>
              <a:t>Increase investment in BEV technologies</a:t>
            </a:r>
            <a:endParaRPr sz="18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800">
                <a:solidFill>
                  <a:schemeClr val="dk1"/>
                </a:solidFill>
              </a:rPr>
              <a:t>Focus on high-growth emerging EV markets</a:t>
            </a:r>
            <a:endParaRPr sz="1800"/>
          </a:p>
        </p:txBody>
      </p:sp>
      <p:sp>
        <p:nvSpPr>
          <p:cNvPr id="219" name="Google Shape;219;p12"/>
          <p:cNvSpPr txBox="1"/>
          <p:nvPr/>
        </p:nvSpPr>
        <p:spPr>
          <a:xfrm flipH="1">
            <a:off x="789789" y="493059"/>
            <a:ext cx="1027265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Business Insights and Recommendations</a:t>
            </a:r>
            <a:endParaRPr sz="3600"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4"/>
          <p:cNvSpPr txBox="1"/>
          <p:nvPr/>
        </p:nvSpPr>
        <p:spPr>
          <a:xfrm>
            <a:off x="1601400" y="1357350"/>
            <a:ext cx="8265900" cy="47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The</a:t>
            </a:r>
            <a:r>
              <a:rPr lang="en-US" sz="1800" b="1">
                <a:solidFill>
                  <a:schemeClr val="dk1"/>
                </a:solidFill>
              </a:rPr>
              <a:t> EVision Analytics</a:t>
            </a:r>
            <a:r>
              <a:rPr lang="en-US" sz="1800">
                <a:solidFill>
                  <a:schemeClr val="dk1"/>
                </a:solidFill>
              </a:rPr>
              <a:t> dashboard successfully transformed raw EV data into meaningful business insights using Power BI.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The project enabled: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Better understanding of EV market trends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Regional and powertrain comparisons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Interactive business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Data-driven insights for decision making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The dashboard provides a scalable analytical solution for understanding the rapidly growing electric vehicle ecosystem.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1174376" y="537883"/>
            <a:ext cx="32272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/>
          <p:nvPr/>
        </p:nvSpPr>
        <p:spPr>
          <a:xfrm>
            <a:off x="6166906" y="1843950"/>
            <a:ext cx="2995833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3" name="Google Shape;23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1306" y="1718675"/>
            <a:ext cx="8129393" cy="30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6"/>
          <p:cNvPicPr preferRelativeResize="0"/>
          <p:nvPr/>
        </p:nvPicPr>
        <p:blipFill rotWithShape="1">
          <a:blip r:embed="rId3">
            <a:alphaModFix/>
          </a:blip>
          <a:srcRect l="608" t="2063"/>
          <a:stretch/>
        </p:blipFill>
        <p:spPr>
          <a:xfrm>
            <a:off x="197224" y="168117"/>
            <a:ext cx="11788588" cy="65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</Words>
  <PresentationFormat>Custom</PresentationFormat>
  <Paragraphs>132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Lato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radhika kadaboina</cp:lastModifiedBy>
  <cp:revision>1</cp:revision>
  <dcterms:created xsi:type="dcterms:W3CDTF">2026-03-01T13:58:55Z</dcterms:created>
  <dcterms:modified xsi:type="dcterms:W3CDTF">2026-05-13T07:41:26Z</dcterms:modified>
</cp:coreProperties>
</file>